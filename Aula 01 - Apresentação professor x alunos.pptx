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Montserrat"/>
      <p:regular r:id="rId39"/>
      <p:bold r:id="rId40"/>
      <p:italic r:id="rId41"/>
      <p:boldItalic r:id="rId42"/>
    </p:embeddedFont>
    <p:embeddedFont>
      <p:font typeface="Tahoma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20" Type="http://schemas.openxmlformats.org/officeDocument/2006/relationships/slide" Target="slides/slide15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22" Type="http://schemas.openxmlformats.org/officeDocument/2006/relationships/slide" Target="slides/slide17.xml"/><Relationship Id="rId44" Type="http://schemas.openxmlformats.org/officeDocument/2006/relationships/font" Target="fonts/Tahoma-bold.fntdata"/><Relationship Id="rId21" Type="http://schemas.openxmlformats.org/officeDocument/2006/relationships/slide" Target="slides/slide16.xml"/><Relationship Id="rId43" Type="http://schemas.openxmlformats.org/officeDocument/2006/relationships/font" Target="fonts/Tahoma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9" name="Google Shape;199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7" name="Google Shape;207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4" name="Google Shape;214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1" name="Google Shape;221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8" name="Google Shape;228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5" name="Google Shape;235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2" name="Google Shape;242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5" name="Google Shape;255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3" name="Google Shape;263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0" name="Google Shape;270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7" name="Google Shape;277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4" name="Google Shape;284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1" name="Google Shape;291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8" name="Google Shape;298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5" name="Google Shape;305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2" name="Google Shape;312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9" name="Google Shape;319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6" name="Google Shape;326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1907704" y="205979"/>
            <a:ext cx="6779096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1_Título e conteúd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835696" y="205979"/>
            <a:ext cx="6850972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475656" y="1005576"/>
            <a:ext cx="7211132" cy="35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  <a:defRPr b="1" i="0" sz="1800" u="none" cap="none" strike="noStrike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–"/>
              <a:defRPr b="1" i="0" sz="1800" u="none" cap="none" strike="noStrike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  <a:defRPr b="1" i="0" sz="1800" u="none" cap="none" strike="noStrike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–"/>
              <a:defRPr b="1" i="0" sz="1800" u="none" cap="none" strike="noStrike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»"/>
              <a:defRPr b="1" i="0" sz="1800" u="none" cap="none" strike="noStrike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124200" y="4767263"/>
            <a:ext cx="28956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53200" y="4767263"/>
            <a:ext cx="21336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1907704" y="205979"/>
            <a:ext cx="6779096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1907704" y="205979"/>
            <a:ext cx="6779096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1907704" y="205979"/>
            <a:ext cx="6779096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1907704" y="205979"/>
            <a:ext cx="6779096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907704" y="205979"/>
            <a:ext cx="6779096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23005" y="4002596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Programação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senho de uma pessoa&#10;&#10;Descrição gerada automaticamente com confiança média" id="95" name="Google Shape;95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4975" y="339502"/>
            <a:ext cx="5734050" cy="3225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251520" y="332656"/>
            <a:ext cx="86409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1619672" y="896183"/>
            <a:ext cx="68399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1952836" y="1381412"/>
            <a:ext cx="523832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Professor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Alunos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Inicial da disciplina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Preparação ambiente de 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Web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688" y="432188"/>
            <a:ext cx="1316796" cy="1322675"/>
          </a:xfrm>
          <a:prstGeom prst="ellipse">
            <a:avLst/>
          </a:prstGeom>
          <a:noFill/>
          <a:ln cap="rnd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176"/>
              </a:srgbClr>
            </a:outerShdw>
          </a:effectLst>
        </p:spPr>
      </p:pic>
      <p:sp>
        <p:nvSpPr>
          <p:cNvPr id="108" name="Google Shape;108;p16"/>
          <p:cNvSpPr/>
          <p:nvPr/>
        </p:nvSpPr>
        <p:spPr>
          <a:xfrm>
            <a:off x="251520" y="9275"/>
            <a:ext cx="86409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do Professor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1619672" y="896183"/>
            <a:ext cx="68399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1602971" y="432188"/>
            <a:ext cx="7668344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José Romualdo - </a:t>
            </a:r>
            <a:r>
              <a:rPr b="0" i="0" lang="pt-BR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jose.romualdo@uni9.pro.br</a:t>
            </a:r>
            <a:endParaRPr b="1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b="1" i="0" lang="pt-BR" sz="14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Formação Acadêmica: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1" i="0" sz="14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   	Formado em Análise de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Pós-Graduado em Governança em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Especialização em Microsoft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Pós Graduação em educação para o ensino superior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Mestre em Gerenciamento de Projetos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1" i="0" sz="14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b="1" i="0" lang="pt-BR" sz="14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Profissional: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Gerente de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Arquiteto de Soluções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Desenvolvedor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Professor Graduação/Pós Graduação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PSM I – Professional Scrum Master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MCP – Microsoft Certified Professional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251520" y="332656"/>
            <a:ext cx="864096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do Aluno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Acessem o link abaixo e preencha a pesquisa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1619672" y="896183"/>
            <a:ext cx="68399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1031872" y="1059582"/>
            <a:ext cx="78486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Noto Sans Symbols"/>
              <a:buNone/>
            </a:pPr>
            <a:r>
              <a:rPr b="0" i="0" lang="pt-BR" sz="1200" u="none" cap="none" strike="noStrike">
                <a:solidFill>
                  <a:srgbClr val="0C0C0C"/>
                </a:solidFill>
                <a:latin typeface="Tahoma"/>
                <a:ea typeface="Tahoma"/>
                <a:cs typeface="Tahoma"/>
                <a:sym typeface="Tahoma"/>
              </a:rPr>
              <a:t>                           	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898423" y="1705932"/>
            <a:ext cx="63011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Noto Sans Symbols"/>
              <a:buNone/>
            </a:pPr>
            <a:r>
              <a:rPr b="0" i="0" lang="pt-BR" sz="1800" u="none" cap="none" strike="noStrike">
                <a:solidFill>
                  <a:srgbClr val="0C0C0C"/>
                </a:solidFill>
                <a:latin typeface="Tahoma"/>
                <a:ea typeface="Tahoma"/>
                <a:cs typeface="Tahoma"/>
                <a:sym typeface="Tahoma"/>
              </a:rPr>
              <a:t>https://forms.gle/fwnmZonfDbs8rCdR8	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502004" y="1329421"/>
            <a:ext cx="1477876" cy="37958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r code&#10;&#10;Description automatically generated" id="120" name="Google Shape;12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5358" y="2352263"/>
            <a:ext cx="2644714" cy="2644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251520" y="332656"/>
            <a:ext cx="86409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vamos aprender?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1619672" y="896183"/>
            <a:ext cx="68399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1952836" y="1381412"/>
            <a:ext cx="523832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condicional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repetição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Funções e Métodos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/>
          <p:nvPr/>
        </p:nvSpPr>
        <p:spPr>
          <a:xfrm>
            <a:off x="251520" y="332656"/>
            <a:ext cx="86409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Acordos de aula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1619672" y="896183"/>
            <a:ext cx="68399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1043608" y="1340769"/>
            <a:ext cx="7643192" cy="3319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Perguntar sempre que necessário, por mais simples que seja a dúvida !!!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Chamar para conversar e dar feedback sobre a aula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Tolerância de 5 minutos para início da aula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Presença somente se comparecer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chegar atrasado no início da aula / intervalo, entrar em silêncio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Prestar atenção e praticar é o segredo !!!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251520" y="332656"/>
            <a:ext cx="86409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da disciplina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1619672" y="896183"/>
            <a:ext cx="68399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1187624" y="1131590"/>
            <a:ext cx="7128138" cy="325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1600" marR="0" rtl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Capacitar o aluno a </a:t>
            </a:r>
            <a:r>
              <a:rPr b="0" i="0" lang="pt-BR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desenvolver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 web e construir arquiteturas utilizando microsserviços, através dos conceitos de </a:t>
            </a:r>
            <a:r>
              <a:rPr b="0" i="0" lang="pt-BR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programação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orientada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componentes reutilizáveis, banco de dados e regras de segurança. Ao término da disciplina o aluno deverá ser capaz de </a:t>
            </a:r>
            <a:r>
              <a:rPr b="0" i="0" lang="pt-BR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sistemas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0" i="0" lang="pt-BR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projetos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profissionais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as melhores práticas de engenharia.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251520" y="332656"/>
            <a:ext cx="86409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- conceitos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1619672" y="896183"/>
            <a:ext cx="68399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752" y="1275606"/>
            <a:ext cx="4578019" cy="366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/>
          <p:nvPr/>
        </p:nvSpPr>
        <p:spPr>
          <a:xfrm>
            <a:off x="251520" y="332656"/>
            <a:ext cx="86409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- conceitos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1619672" y="896183"/>
            <a:ext cx="68399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1174328"/>
            <a:ext cx="6766589" cy="3072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/>
          <p:nvPr/>
        </p:nvSpPr>
        <p:spPr>
          <a:xfrm>
            <a:off x="251520" y="332656"/>
            <a:ext cx="86409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- conceitos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1619672" y="896183"/>
            <a:ext cx="68399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81" y="764878"/>
            <a:ext cx="5737931" cy="40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/>
          <p:nvPr/>
        </p:nvSpPr>
        <p:spPr>
          <a:xfrm>
            <a:off x="251520" y="332656"/>
            <a:ext cx="86409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- conceitos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1619672" y="896183"/>
            <a:ext cx="68399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6378919" y="1779662"/>
            <a:ext cx="2676300" cy="19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Basta pressionar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F12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Google Chrome para habilitar a aba de ferramentas do desenvolvedor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592" y="1923678"/>
            <a:ext cx="4572001" cy="23990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24"/>
          <p:cNvCxnSpPr/>
          <p:nvPr/>
        </p:nvCxnSpPr>
        <p:spPr>
          <a:xfrm flipH="1" rot="10800000">
            <a:off x="4427984" y="2371478"/>
            <a:ext cx="1976400" cy="1523400"/>
          </a:xfrm>
          <a:prstGeom prst="curvedConnector3">
            <a:avLst>
              <a:gd fmla="val 6652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/>
          <p:nvPr/>
        </p:nvSpPr>
        <p:spPr>
          <a:xfrm>
            <a:off x="251520" y="332656"/>
            <a:ext cx="86409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- conceitos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1619672" y="896183"/>
            <a:ext cx="68399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6378919" y="1779662"/>
            <a:ext cx="2676300" cy="19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 clicar em uma das chamadas da lista (direta) é possível visualizar todos os detalhes de cabeçalho, conteúdo, resposta, cookies e tempo de resposta.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39" y="1513087"/>
            <a:ext cx="5539355" cy="34358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25"/>
          <p:cNvCxnSpPr/>
          <p:nvPr/>
        </p:nvCxnSpPr>
        <p:spPr>
          <a:xfrm rot="-5400000">
            <a:off x="4534533" y="2697042"/>
            <a:ext cx="2195400" cy="1544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1553850" y="776983"/>
            <a:ext cx="6104250" cy="19590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-28575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pt-BR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/>
          </a:p>
          <a:p>
            <a:pPr indent="-285750" lvl="1" marL="685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Char char="–"/>
            </a:pPr>
            <a:r>
              <a:rPr b="0" lang="pt-BR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Requisição do cliente que tem como objetivo enviar ou solicitar informações a um recurso disponível em um servidor</a:t>
            </a:r>
            <a:endParaRPr b="0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pt-BR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/>
          </a:p>
          <a:p>
            <a:pPr indent="-285750" lvl="1" marL="685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Char char="–"/>
            </a:pPr>
            <a:r>
              <a:rPr b="0" lang="pt-BR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 do servidor para uma determinada requisição</a:t>
            </a:r>
            <a:endParaRPr b="0" sz="13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835696" y="195486"/>
            <a:ext cx="6002325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Intercâmbio de informações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1553850" y="776983"/>
            <a:ext cx="6104250" cy="19590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-13335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None/>
            </a:pPr>
            <a:r>
              <a:t/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835696" y="205979"/>
            <a:ext cx="5822305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HTTP Request</a:t>
            </a:r>
            <a:endParaRPr/>
          </a:p>
        </p:txBody>
      </p:sp>
      <p:pic>
        <p:nvPicPr>
          <p:cNvPr id="195" name="Google Shape;19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120379"/>
            <a:ext cx="6858000" cy="290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1553850" y="776983"/>
            <a:ext cx="6104250" cy="19590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-13335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None/>
            </a:pPr>
            <a:r>
              <a:t/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</p:txBody>
      </p:sp>
      <p:sp>
        <p:nvSpPr>
          <p:cNvPr id="202" name="Google Shape;202;p28"/>
          <p:cNvSpPr txBox="1"/>
          <p:nvPr>
            <p:ph type="title"/>
          </p:nvPr>
        </p:nvSpPr>
        <p:spPr>
          <a:xfrm>
            <a:off x="1835696" y="205979"/>
            <a:ext cx="5822305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HTTP Request</a:t>
            </a:r>
            <a:endParaRPr/>
          </a:p>
        </p:txBody>
      </p:sp>
      <p:pic>
        <p:nvPicPr>
          <p:cNvPr id="203" name="Google Shape;20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1094252"/>
            <a:ext cx="6858000" cy="3242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1553850" y="776983"/>
            <a:ext cx="6104250" cy="19590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lang="pt-BR" sz="1350"/>
              <a:t>A URL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Possivelmente a parte mais importante de qualquer solicitação, esta é a URL ou endereço do recurso.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Um URL é feito de várias partes</a:t>
            </a:r>
            <a:endParaRPr b="0" sz="1350"/>
          </a:p>
        </p:txBody>
      </p:sp>
      <p:sp>
        <p:nvSpPr>
          <p:cNvPr id="210" name="Google Shape;210;p29"/>
          <p:cNvSpPr txBox="1"/>
          <p:nvPr>
            <p:ph type="title"/>
          </p:nvPr>
        </p:nvSpPr>
        <p:spPr>
          <a:xfrm>
            <a:off x="1907704" y="205979"/>
            <a:ext cx="5750297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Intercâmbio de informações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1553850" y="776983"/>
            <a:ext cx="6104250" cy="19590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lang="pt-BR" sz="1350"/>
              <a:t>ESQUEMA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350"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Esta é a primeira parte do URL, http ou https (existem outros esquemas)</a:t>
            </a:r>
            <a:endParaRPr b="0" sz="1350"/>
          </a:p>
        </p:txBody>
      </p:sp>
      <p:sp>
        <p:nvSpPr>
          <p:cNvPr id="217" name="Google Shape;217;p30"/>
          <p:cNvSpPr txBox="1"/>
          <p:nvPr>
            <p:ph type="title"/>
          </p:nvPr>
        </p:nvSpPr>
        <p:spPr>
          <a:xfrm>
            <a:off x="1907704" y="205979"/>
            <a:ext cx="5750297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Intercâmbio de informações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1553850" y="776983"/>
            <a:ext cx="6104250" cy="19590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lang="pt-BR" sz="1350"/>
              <a:t>SERVIDOR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O servidor ou host é o computador/serviço/servidor que recebe a solicitação.</a:t>
            </a:r>
            <a:endParaRPr b="0" sz="1350"/>
          </a:p>
        </p:txBody>
      </p:sp>
      <p:sp>
        <p:nvSpPr>
          <p:cNvPr id="224" name="Google Shape;224;p31"/>
          <p:cNvSpPr txBox="1"/>
          <p:nvPr>
            <p:ph type="title"/>
          </p:nvPr>
        </p:nvSpPr>
        <p:spPr>
          <a:xfrm>
            <a:off x="1835696" y="205979"/>
            <a:ext cx="5822305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Intercâmbio de informações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idx="1" type="body"/>
          </p:nvPr>
        </p:nvSpPr>
        <p:spPr>
          <a:xfrm>
            <a:off x="1553850" y="776983"/>
            <a:ext cx="6104250" cy="19590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lang="pt-BR" sz="1350"/>
              <a:t>CAMINHO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É uma série de segmentos onde cada segmento é separado por uma barra. O caminho aponta para o recurso lógico no servidor.</a:t>
            </a:r>
            <a:endParaRPr b="0" sz="1350"/>
          </a:p>
        </p:txBody>
      </p:sp>
      <p:sp>
        <p:nvSpPr>
          <p:cNvPr id="231" name="Google Shape;231;p32"/>
          <p:cNvSpPr txBox="1"/>
          <p:nvPr>
            <p:ph type="title"/>
          </p:nvPr>
        </p:nvSpPr>
        <p:spPr>
          <a:xfrm>
            <a:off x="1835696" y="205979"/>
            <a:ext cx="5822305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Intercâmbio de informações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idx="1" type="body"/>
          </p:nvPr>
        </p:nvSpPr>
        <p:spPr>
          <a:xfrm>
            <a:off x="1553850" y="776983"/>
            <a:ext cx="6104250" cy="19590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lang="pt-BR" sz="1350"/>
              <a:t>CONSULTA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350"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Uma parte opcional no final da url precedida por um ponto de interrogação (?). Uma consulta (como o nome sugere) permite que uma solicitação consultável passe um ou mais parâmetros. Cada parâmetro é um </a:t>
            </a:r>
            <a:r>
              <a:rPr lang="pt-BR" sz="1350"/>
              <a:t>par chave/valor</a:t>
            </a:r>
            <a:r>
              <a:rPr b="0" lang="pt-BR" sz="1350"/>
              <a:t> (chave=valor) onde cada parâmetro em uma solicitação é separado por um e(&amp;) comercial ou ponto e vírgula.</a:t>
            </a:r>
            <a:endParaRPr b="0" sz="1350"/>
          </a:p>
        </p:txBody>
      </p:sp>
      <p:sp>
        <p:nvSpPr>
          <p:cNvPr id="238" name="Google Shape;238;p33"/>
          <p:cNvSpPr txBox="1"/>
          <p:nvPr>
            <p:ph type="title"/>
          </p:nvPr>
        </p:nvSpPr>
        <p:spPr>
          <a:xfrm>
            <a:off x="1835696" y="205979"/>
            <a:ext cx="5822305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Intercâmbio de informações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idx="1" type="body"/>
          </p:nvPr>
        </p:nvSpPr>
        <p:spPr>
          <a:xfrm>
            <a:off x="1553850" y="776983"/>
            <a:ext cx="6104250" cy="382473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lang="pt-BR" sz="1350"/>
              <a:t>MÉTODOS DE SOLICITAÇÃO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Os métodos de definição HTTP (às vezes referidos como verbos) indicam a ação desejada a ser executada no recurso identificado.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Principais métodos HTTP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GET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POST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PATCH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PUT 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DELETE</a:t>
            </a:r>
            <a:endParaRPr b="0" sz="1350"/>
          </a:p>
        </p:txBody>
      </p:sp>
      <p:sp>
        <p:nvSpPr>
          <p:cNvPr id="245" name="Google Shape;245;p34"/>
          <p:cNvSpPr txBox="1"/>
          <p:nvPr>
            <p:ph type="title"/>
          </p:nvPr>
        </p:nvSpPr>
        <p:spPr>
          <a:xfrm>
            <a:off x="1835696" y="247333"/>
            <a:ext cx="5855101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Intercâmbio de informações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/>
          <p:nvPr>
            <p:ph type="title"/>
          </p:nvPr>
        </p:nvSpPr>
        <p:spPr>
          <a:xfrm>
            <a:off x="1835696" y="205979"/>
            <a:ext cx="5822305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pt-BR"/>
              <a:t>Dúvidas?</a:t>
            </a:r>
            <a:endParaRPr/>
          </a:p>
        </p:txBody>
      </p:sp>
      <p:sp>
        <p:nvSpPr>
          <p:cNvPr id="251" name="Google Shape;251;p35"/>
          <p:cNvSpPr txBox="1"/>
          <p:nvPr>
            <p:ph idx="1" type="body"/>
          </p:nvPr>
        </p:nvSpPr>
        <p:spPr>
          <a:xfrm>
            <a:off x="1553841" y="1005576"/>
            <a:ext cx="6104250" cy="35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265D"/>
              </a:buClr>
              <a:buSzPts val="2400"/>
              <a:buNone/>
            </a:pPr>
            <a:r>
              <a:rPr lang="pt-BR" sz="17925">
                <a:solidFill>
                  <a:srgbClr val="F0265D"/>
                </a:solidFill>
              </a:rPr>
              <a:t>?</a:t>
            </a:r>
            <a:endParaRPr sz="17925">
              <a:solidFill>
                <a:srgbClr val="F0265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 txBox="1"/>
          <p:nvPr>
            <p:ph idx="1" type="body"/>
          </p:nvPr>
        </p:nvSpPr>
        <p:spPr>
          <a:xfrm>
            <a:off x="1553850" y="776983"/>
            <a:ext cx="6104250" cy="19590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-13335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None/>
            </a:pPr>
            <a:r>
              <a:t/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</p:txBody>
      </p:sp>
      <p:sp>
        <p:nvSpPr>
          <p:cNvPr id="258" name="Google Shape;258;p36"/>
          <p:cNvSpPr txBox="1"/>
          <p:nvPr>
            <p:ph type="title"/>
          </p:nvPr>
        </p:nvSpPr>
        <p:spPr>
          <a:xfrm>
            <a:off x="1907704" y="205979"/>
            <a:ext cx="5750297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HTTP Response</a:t>
            </a:r>
            <a:endParaRPr/>
          </a:p>
        </p:txBody>
      </p:sp>
      <p:pic>
        <p:nvPicPr>
          <p:cNvPr id="259" name="Google Shape;25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1398" y="1050254"/>
            <a:ext cx="4512564" cy="3316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 txBox="1"/>
          <p:nvPr>
            <p:ph idx="1" type="body"/>
          </p:nvPr>
        </p:nvSpPr>
        <p:spPr>
          <a:xfrm>
            <a:off x="1553850" y="776983"/>
            <a:ext cx="6104250" cy="382473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O servidor, após processar a requisição enviará uma resposta.</a:t>
            </a:r>
            <a:endParaRPr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Uma resposta contém um código de resposta (para indicar o sucesso ou falha de uma solicitação), um conjunto de cabeçalhos e um corpo.</a:t>
            </a:r>
            <a:endParaRPr b="0" sz="1350"/>
          </a:p>
        </p:txBody>
      </p:sp>
      <p:sp>
        <p:nvSpPr>
          <p:cNvPr id="266" name="Google Shape;266;p37"/>
          <p:cNvSpPr txBox="1"/>
          <p:nvPr>
            <p:ph type="title"/>
          </p:nvPr>
        </p:nvSpPr>
        <p:spPr>
          <a:xfrm>
            <a:off x="1763688" y="205979"/>
            <a:ext cx="5894313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Intercâmbio de informações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>
            <p:ph idx="1" type="body"/>
          </p:nvPr>
        </p:nvSpPr>
        <p:spPr>
          <a:xfrm>
            <a:off x="1553850" y="776983"/>
            <a:ext cx="6104250" cy="382473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As solicitações GET respondem com o(s) recurso(s) solicitado(s), enquanto uma solicitação POST pode responder apenas com um indicador de sucesso ou pode responder com o recurso totalmente preenchido que foi inserido/postado.</a:t>
            </a:r>
            <a:endParaRPr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As respostas podem ser em formato textual ou binário.</a:t>
            </a:r>
            <a:endParaRPr b="0" sz="1350"/>
          </a:p>
        </p:txBody>
      </p:sp>
      <p:sp>
        <p:nvSpPr>
          <p:cNvPr id="273" name="Google Shape;273;p38"/>
          <p:cNvSpPr txBox="1"/>
          <p:nvPr>
            <p:ph type="title"/>
          </p:nvPr>
        </p:nvSpPr>
        <p:spPr>
          <a:xfrm>
            <a:off x="1835696" y="205979"/>
            <a:ext cx="5822305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Http Response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>
            <p:ph idx="1" type="body"/>
          </p:nvPr>
        </p:nvSpPr>
        <p:spPr>
          <a:xfrm>
            <a:off x="1553850" y="776983"/>
            <a:ext cx="6104250" cy="2254254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lang="pt-BR" sz="1350"/>
              <a:t>CÓDIGOS DE STATUS HTTP</a:t>
            </a:r>
            <a:endParaRPr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Os códigos de status indicam o sucesso ou a falha de uma solicitação. Eles são um número de 3 dígitos onde o primeiro dígito significa a classe ou categoria de resposta.</a:t>
            </a:r>
            <a:endParaRPr b="0" sz="1350"/>
          </a:p>
        </p:txBody>
      </p:sp>
      <p:sp>
        <p:nvSpPr>
          <p:cNvPr id="280" name="Google Shape;280;p39"/>
          <p:cNvSpPr txBox="1"/>
          <p:nvPr>
            <p:ph type="title"/>
          </p:nvPr>
        </p:nvSpPr>
        <p:spPr>
          <a:xfrm>
            <a:off x="1835696" y="205979"/>
            <a:ext cx="5822305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HTTP Status codes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0"/>
          <p:cNvSpPr txBox="1"/>
          <p:nvPr>
            <p:ph idx="1" type="body"/>
          </p:nvPr>
        </p:nvSpPr>
        <p:spPr>
          <a:xfrm>
            <a:off x="1553850" y="776983"/>
            <a:ext cx="6104250" cy="382473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lang="pt-BR" sz="1350"/>
              <a:t>1xx resposta informativa</a:t>
            </a:r>
            <a:r>
              <a:rPr b="0" lang="pt-BR" sz="1350"/>
              <a:t> </a:t>
            </a:r>
            <a:endParaRPr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A solicitação foi recebida, continuando o processamento.</a:t>
            </a:r>
            <a:endParaRPr b="0" sz="1350"/>
          </a:p>
        </p:txBody>
      </p:sp>
      <p:sp>
        <p:nvSpPr>
          <p:cNvPr id="287" name="Google Shape;287;p40"/>
          <p:cNvSpPr txBox="1"/>
          <p:nvPr>
            <p:ph type="title"/>
          </p:nvPr>
        </p:nvSpPr>
        <p:spPr>
          <a:xfrm>
            <a:off x="1835696" y="205979"/>
            <a:ext cx="5822305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HTTP Status codes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1553850" y="776983"/>
            <a:ext cx="6104250" cy="382473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lang="pt-BR" sz="1350"/>
              <a:t>2xx bem-sucedido</a:t>
            </a:r>
            <a:r>
              <a:rPr b="0" lang="pt-BR" sz="1350"/>
              <a:t> </a:t>
            </a:r>
            <a:endParaRPr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A solicitação foi recebida, compreendida e aceita com sucesso.</a:t>
            </a:r>
            <a:endParaRPr/>
          </a:p>
        </p:txBody>
      </p:sp>
      <p:sp>
        <p:nvSpPr>
          <p:cNvPr id="294" name="Google Shape;294;p41"/>
          <p:cNvSpPr txBox="1"/>
          <p:nvPr>
            <p:ph type="title"/>
          </p:nvPr>
        </p:nvSpPr>
        <p:spPr>
          <a:xfrm>
            <a:off x="1835696" y="205979"/>
            <a:ext cx="5822305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HTTP Status codes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"/>
          <p:cNvSpPr txBox="1"/>
          <p:nvPr>
            <p:ph idx="1" type="body"/>
          </p:nvPr>
        </p:nvSpPr>
        <p:spPr>
          <a:xfrm>
            <a:off x="1553850" y="776983"/>
            <a:ext cx="6104250" cy="382473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lang="pt-BR" sz="1350"/>
              <a:t>Redirecionamento 3xx </a:t>
            </a:r>
            <a:endParaRPr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Outras ações precisam ser tomadas para concluir a solicitação.</a:t>
            </a:r>
            <a:endParaRPr b="0" sz="1350"/>
          </a:p>
        </p:txBody>
      </p:sp>
      <p:sp>
        <p:nvSpPr>
          <p:cNvPr id="301" name="Google Shape;301;p42"/>
          <p:cNvSpPr txBox="1"/>
          <p:nvPr>
            <p:ph type="title"/>
          </p:nvPr>
        </p:nvSpPr>
        <p:spPr>
          <a:xfrm>
            <a:off x="1835696" y="205979"/>
            <a:ext cx="5822305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HTTP Status codes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3"/>
          <p:cNvSpPr txBox="1"/>
          <p:nvPr>
            <p:ph idx="1" type="body"/>
          </p:nvPr>
        </p:nvSpPr>
        <p:spPr>
          <a:xfrm>
            <a:off x="1553850" y="776983"/>
            <a:ext cx="6104250" cy="382473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lang="pt-BR" sz="1350"/>
              <a:t>Erro do cliente 4xx </a:t>
            </a:r>
            <a:endParaRPr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A solicitação contém sintaxe incorreta ou não pode ser atendida.</a:t>
            </a:r>
            <a:endParaRPr/>
          </a:p>
        </p:txBody>
      </p:sp>
      <p:sp>
        <p:nvSpPr>
          <p:cNvPr id="308" name="Google Shape;308;p43"/>
          <p:cNvSpPr txBox="1"/>
          <p:nvPr>
            <p:ph type="title"/>
          </p:nvPr>
        </p:nvSpPr>
        <p:spPr>
          <a:xfrm>
            <a:off x="1835696" y="205979"/>
            <a:ext cx="5822305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HTTP Status codes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4"/>
          <p:cNvSpPr txBox="1"/>
          <p:nvPr>
            <p:ph idx="1" type="body"/>
          </p:nvPr>
        </p:nvSpPr>
        <p:spPr>
          <a:xfrm>
            <a:off x="1553850" y="776983"/>
            <a:ext cx="6104250" cy="382473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lang="pt-BR" sz="1350"/>
              <a:t>Erro do servidor 5xx</a:t>
            </a:r>
            <a:r>
              <a:rPr b="0" lang="pt-BR" sz="1350"/>
              <a:t> </a:t>
            </a:r>
            <a:endParaRPr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O servidor falhou em atender a uma solicitação aparentemente válida.</a:t>
            </a:r>
            <a:endParaRPr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350"/>
          </a:p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Embora essa declaração formal exista, cabe a cada serviço implementar a especificação. ou seja quando uma resposta 404 (não encontrado) deve ser enviada?</a:t>
            </a:r>
            <a:endParaRPr b="0" sz="1350"/>
          </a:p>
        </p:txBody>
      </p:sp>
      <p:sp>
        <p:nvSpPr>
          <p:cNvPr id="315" name="Google Shape;315;p44"/>
          <p:cNvSpPr txBox="1"/>
          <p:nvPr>
            <p:ph type="title"/>
          </p:nvPr>
        </p:nvSpPr>
        <p:spPr>
          <a:xfrm>
            <a:off x="1907704" y="205979"/>
            <a:ext cx="5750297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HTTP Status codes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5"/>
          <p:cNvSpPr txBox="1"/>
          <p:nvPr>
            <p:ph idx="1" type="body"/>
          </p:nvPr>
        </p:nvSpPr>
        <p:spPr>
          <a:xfrm>
            <a:off x="1553850" y="776983"/>
            <a:ext cx="6104250" cy="382473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Os cabeçalhos de resposta normalmente informam ao cliente qual tipo e codificação dos dados estão sendo retornados e qualquer coisa que possa ser pertinente, por exemplo quaisquer dados de limitação, se os dados foram servidos de um cache, etc.</a:t>
            </a:r>
            <a:endParaRPr b="0" sz="1350"/>
          </a:p>
        </p:txBody>
      </p:sp>
      <p:sp>
        <p:nvSpPr>
          <p:cNvPr id="322" name="Google Shape;322;p45"/>
          <p:cNvSpPr txBox="1"/>
          <p:nvPr>
            <p:ph type="title"/>
          </p:nvPr>
        </p:nvSpPr>
        <p:spPr>
          <a:xfrm>
            <a:off x="1907704" y="205979"/>
            <a:ext cx="5750297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HTTP Headers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6"/>
          <p:cNvSpPr txBox="1"/>
          <p:nvPr>
            <p:ph idx="1" type="body"/>
          </p:nvPr>
        </p:nvSpPr>
        <p:spPr>
          <a:xfrm>
            <a:off x="1553850" y="776983"/>
            <a:ext cx="6104250" cy="382473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5715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b="0" lang="pt-BR" sz="1350"/>
              <a:t>O corpo contém os dados retornados do servidor. O corpo pode ser textual ou em formato binário.</a:t>
            </a:r>
            <a:endParaRPr b="0" sz="1350"/>
          </a:p>
        </p:txBody>
      </p:sp>
      <p:sp>
        <p:nvSpPr>
          <p:cNvPr id="329" name="Google Shape;329;p46"/>
          <p:cNvSpPr txBox="1"/>
          <p:nvPr>
            <p:ph type="title"/>
          </p:nvPr>
        </p:nvSpPr>
        <p:spPr>
          <a:xfrm>
            <a:off x="1763688" y="205979"/>
            <a:ext cx="5894313" cy="52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Montserrat"/>
              <a:buNone/>
            </a:pPr>
            <a:r>
              <a:rPr lang="pt-BR"/>
              <a:t>Response body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